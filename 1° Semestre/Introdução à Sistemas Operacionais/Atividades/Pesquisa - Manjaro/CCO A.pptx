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Oswald Bold" charset="1" panose="00000800000000000000"/>
      <p:regular r:id="rId17"/>
    </p:embeddedFon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4851" y="4074596"/>
            <a:ext cx="9252699" cy="2137808"/>
          </a:xfrm>
          <a:custGeom>
            <a:avLst/>
            <a:gdLst/>
            <a:ahLst/>
            <a:cxnLst/>
            <a:rect r="r" b="b" t="t" l="l"/>
            <a:pathLst>
              <a:path h="2137808" w="9252699">
                <a:moveTo>
                  <a:pt x="0" y="0"/>
                </a:moveTo>
                <a:lnTo>
                  <a:pt x="9252700" y="0"/>
                </a:lnTo>
                <a:lnTo>
                  <a:pt x="9252700" y="2137808"/>
                </a:lnTo>
                <a:lnTo>
                  <a:pt x="0" y="213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02334" y="7974968"/>
            <a:ext cx="1283332" cy="1283332"/>
          </a:xfrm>
          <a:custGeom>
            <a:avLst/>
            <a:gdLst/>
            <a:ahLst/>
            <a:cxnLst/>
            <a:rect r="r" b="b" t="t" l="l"/>
            <a:pathLst>
              <a:path h="1283332" w="1283332">
                <a:moveTo>
                  <a:pt x="0" y="0"/>
                </a:moveTo>
                <a:lnTo>
                  <a:pt x="1283332" y="0"/>
                </a:lnTo>
                <a:lnTo>
                  <a:pt x="1283332" y="1283332"/>
                </a:lnTo>
                <a:lnTo>
                  <a:pt x="0" y="1283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613230" y="3966892"/>
            <a:ext cx="5214882" cy="2353216"/>
            <a:chOff x="0" y="0"/>
            <a:chExt cx="6953176" cy="31376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3176" cy="3137621"/>
            </a:xfrm>
            <a:custGeom>
              <a:avLst/>
              <a:gdLst/>
              <a:ahLst/>
              <a:cxnLst/>
              <a:rect r="r" b="b" t="t" l="l"/>
              <a:pathLst>
                <a:path h="3137621" w="6953176">
                  <a:moveTo>
                    <a:pt x="0" y="0"/>
                  </a:moveTo>
                  <a:lnTo>
                    <a:pt x="6953176" y="0"/>
                  </a:lnTo>
                  <a:lnTo>
                    <a:pt x="6953176" y="3137621"/>
                  </a:lnTo>
                  <a:lnTo>
                    <a:pt x="0" y="3137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34717" y="731756"/>
              <a:ext cx="1608381" cy="371612"/>
            </a:xfrm>
            <a:custGeom>
              <a:avLst/>
              <a:gdLst/>
              <a:ahLst/>
              <a:cxnLst/>
              <a:rect r="r" b="b" t="t" l="l"/>
              <a:pathLst>
                <a:path h="371612" w="1608381">
                  <a:moveTo>
                    <a:pt x="0" y="0"/>
                  </a:moveTo>
                  <a:lnTo>
                    <a:pt x="1608381" y="0"/>
                  </a:lnTo>
                  <a:lnTo>
                    <a:pt x="1608381" y="371612"/>
                  </a:lnTo>
                  <a:lnTo>
                    <a:pt x="0" y="371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6881" y="1736439"/>
              <a:ext cx="1174838" cy="271443"/>
            </a:xfrm>
            <a:custGeom>
              <a:avLst/>
              <a:gdLst/>
              <a:ahLst/>
              <a:cxnLst/>
              <a:rect r="r" b="b" t="t" l="l"/>
              <a:pathLst>
                <a:path h="271443" w="1174838">
                  <a:moveTo>
                    <a:pt x="0" y="0"/>
                  </a:moveTo>
                  <a:lnTo>
                    <a:pt x="1174839" y="0"/>
                  </a:lnTo>
                  <a:lnTo>
                    <a:pt x="1174839" y="271442"/>
                  </a:lnTo>
                  <a:lnTo>
                    <a:pt x="0" y="271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209161" y="1995181"/>
              <a:ext cx="714945" cy="165186"/>
            </a:xfrm>
            <a:custGeom>
              <a:avLst/>
              <a:gdLst/>
              <a:ahLst/>
              <a:cxnLst/>
              <a:rect r="r" b="b" t="t" l="l"/>
              <a:pathLst>
                <a:path h="165186" w="714945">
                  <a:moveTo>
                    <a:pt x="0" y="0"/>
                  </a:moveTo>
                  <a:lnTo>
                    <a:pt x="714944" y="0"/>
                  </a:lnTo>
                  <a:lnTo>
                    <a:pt x="714944" y="165186"/>
                  </a:lnTo>
                  <a:lnTo>
                    <a:pt x="0" y="165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403332" y="2409761"/>
              <a:ext cx="419708" cy="96972"/>
            </a:xfrm>
            <a:custGeom>
              <a:avLst/>
              <a:gdLst/>
              <a:ahLst/>
              <a:cxnLst/>
              <a:rect r="r" b="b" t="t" l="l"/>
              <a:pathLst>
                <a:path h="96972" w="419708">
                  <a:moveTo>
                    <a:pt x="0" y="0"/>
                  </a:moveTo>
                  <a:lnTo>
                    <a:pt x="419708" y="0"/>
                  </a:lnTo>
                  <a:lnTo>
                    <a:pt x="419708" y="96973"/>
                  </a:lnTo>
                  <a:lnTo>
                    <a:pt x="0" y="96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861639" y="738822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89166" y="6693207"/>
            <a:ext cx="76880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Gustavo Lima de Araujo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9166" y="7853630"/>
            <a:ext cx="76880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Enzo Basseto Martelozzo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863678" y="4300528"/>
            <a:ext cx="682238" cy="646237"/>
            <a:chOff x="0" y="0"/>
            <a:chExt cx="179684" cy="1702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89166" y="4369647"/>
            <a:ext cx="76880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Vinicius Borges do Nascimento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380" y="1627090"/>
            <a:ext cx="791318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b="true" sz="8000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INTEGRANTES DO GRUPO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39054" y="9191625"/>
            <a:ext cx="113470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89166" y="5532785"/>
            <a:ext cx="7688058" cy="44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Maria Fernanda Teixeira da Silva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71442" y="4948500"/>
            <a:ext cx="76880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Kauê Tamura Gomes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71442" y="6111638"/>
            <a:ext cx="76880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Luiz Phelipe Santana de Oliveira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71442" y="7272061"/>
            <a:ext cx="76880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Gabriel Veras Soares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863678" y="5463667"/>
            <a:ext cx="682238" cy="646237"/>
            <a:chOff x="0" y="0"/>
            <a:chExt cx="179684" cy="1702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63678" y="6624089"/>
            <a:ext cx="682238" cy="646237"/>
            <a:chOff x="0" y="0"/>
            <a:chExt cx="179684" cy="170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63678" y="7784512"/>
            <a:ext cx="682238" cy="646237"/>
            <a:chOff x="0" y="0"/>
            <a:chExt cx="179684" cy="1702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45954" y="4880740"/>
            <a:ext cx="682238" cy="646237"/>
            <a:chOff x="0" y="0"/>
            <a:chExt cx="179684" cy="1702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345954" y="6042520"/>
            <a:ext cx="682238" cy="646237"/>
            <a:chOff x="0" y="0"/>
            <a:chExt cx="179684" cy="1702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45954" y="7204300"/>
            <a:ext cx="682238" cy="646237"/>
            <a:chOff x="0" y="0"/>
            <a:chExt cx="179684" cy="170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9684" cy="170202"/>
            </a:xfrm>
            <a:custGeom>
              <a:avLst/>
              <a:gdLst/>
              <a:ahLst/>
              <a:cxnLst/>
              <a:rect r="r" b="b" t="t" l="l"/>
              <a:pathLst>
                <a:path h="170202" w="179684">
                  <a:moveTo>
                    <a:pt x="0" y="0"/>
                  </a:moveTo>
                  <a:lnTo>
                    <a:pt x="179684" y="0"/>
                  </a:lnTo>
                  <a:lnTo>
                    <a:pt x="179684" y="170202"/>
                  </a:lnTo>
                  <a:lnTo>
                    <a:pt x="0" y="170202"/>
                  </a:lnTo>
                  <a:close/>
                </a:path>
              </a:pathLst>
            </a:custGeom>
            <a:solidFill>
              <a:srgbClr val="39CD6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79684" cy="23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83302" y="3693241"/>
            <a:ext cx="5409990" cy="5305898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1239959" y="4324672"/>
            <a:ext cx="1867157" cy="3204028"/>
          </a:xfrm>
          <a:custGeom>
            <a:avLst/>
            <a:gdLst/>
            <a:ahLst/>
            <a:cxnLst/>
            <a:rect r="r" b="b" t="t" l="l"/>
            <a:pathLst>
              <a:path h="3204028" w="1867157">
                <a:moveTo>
                  <a:pt x="0" y="0"/>
                </a:moveTo>
                <a:lnTo>
                  <a:pt x="1867157" y="0"/>
                </a:lnTo>
                <a:lnTo>
                  <a:pt x="1867157" y="3204028"/>
                </a:lnTo>
                <a:lnTo>
                  <a:pt x="0" y="3204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078" t="0" r="-1046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02910" y="768541"/>
            <a:ext cx="3219405" cy="2853681"/>
          </a:xfrm>
          <a:custGeom>
            <a:avLst/>
            <a:gdLst/>
            <a:ahLst/>
            <a:cxnLst/>
            <a:rect r="r" b="b" t="t" l="l"/>
            <a:pathLst>
              <a:path h="2853681" w="3219405">
                <a:moveTo>
                  <a:pt x="0" y="0"/>
                </a:moveTo>
                <a:lnTo>
                  <a:pt x="3219405" y="0"/>
                </a:lnTo>
                <a:lnTo>
                  <a:pt x="3219405" y="2853681"/>
                </a:lnTo>
                <a:lnTo>
                  <a:pt x="0" y="285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8364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21384" y="1190172"/>
            <a:ext cx="2432050" cy="2432050"/>
          </a:xfrm>
          <a:custGeom>
            <a:avLst/>
            <a:gdLst/>
            <a:ahLst/>
            <a:cxnLst/>
            <a:rect r="r" b="b" t="t" l="l"/>
            <a:pathLst>
              <a:path h="2432050" w="2432050">
                <a:moveTo>
                  <a:pt x="0" y="0"/>
                </a:moveTo>
                <a:lnTo>
                  <a:pt x="2432050" y="0"/>
                </a:lnTo>
                <a:lnTo>
                  <a:pt x="2432050" y="2432050"/>
                </a:lnTo>
                <a:lnTo>
                  <a:pt x="0" y="243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5066" y="9191625"/>
            <a:ext cx="108978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08941" y="3883660"/>
            <a:ext cx="5486513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4444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Origem dele (arch)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799" b="true">
                <a:solidFill>
                  <a:srgbClr val="4444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Facilidade de usabilidade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799" b="true">
                <a:solidFill>
                  <a:srgbClr val="4444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Personalização e comunidade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209675"/>
            <a:ext cx="4540578" cy="221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O QUE É O </a:t>
            </a:r>
          </a:p>
          <a:p>
            <a:pPr algn="l">
              <a:lnSpc>
                <a:spcPts val="10880"/>
              </a:lnSpc>
            </a:pPr>
            <a:r>
              <a:rPr lang="en-US" b="true" sz="8000" spc="160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MANJARO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63607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4021" y="2733952"/>
            <a:ext cx="7949220" cy="4958326"/>
          </a:xfrm>
          <a:custGeom>
            <a:avLst/>
            <a:gdLst/>
            <a:ahLst/>
            <a:cxnLst/>
            <a:rect r="r" b="b" t="t" l="l"/>
            <a:pathLst>
              <a:path h="4958326" w="7949220">
                <a:moveTo>
                  <a:pt x="0" y="0"/>
                </a:moveTo>
                <a:lnTo>
                  <a:pt x="7949220" y="0"/>
                </a:lnTo>
                <a:lnTo>
                  <a:pt x="7949220" y="4958326"/>
                </a:lnTo>
                <a:lnTo>
                  <a:pt x="0" y="4958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34918" y="298595"/>
            <a:ext cx="7292327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ORIGEM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4021" y="7606553"/>
            <a:ext cx="706686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Manjaro Linux 0.1 lançado em 2011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5883" y="470997"/>
            <a:ext cx="108978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00678" y="2545296"/>
            <a:ext cx="8583848" cy="175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Ano de criação: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11 de julho de 2011 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Onde foi criado: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Europa (Áustria, França e Alemanha) 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Desenvolvedores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Roland Singer, Guillaume Benoit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 Philip Müller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0678" y="4234247"/>
            <a:ext cx="9587322" cy="482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Fundação (2011):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Baseado no Arch Linux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Objetivo: deixar o Arch acessível e de interface amigável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Crescimento: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Popularização como alternativa ao Arch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Consolidação da edição Xfce como principal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Expansão para KDE e GNOME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Atualidade: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 Rolling Release mantido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Atualizações testadas antes de liberar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67154" y="4524348"/>
            <a:ext cx="5339253" cy="1233618"/>
          </a:xfrm>
          <a:custGeom>
            <a:avLst/>
            <a:gdLst/>
            <a:ahLst/>
            <a:cxnLst/>
            <a:rect r="r" b="b" t="t" l="l"/>
            <a:pathLst>
              <a:path h="1233618" w="5339253">
                <a:moveTo>
                  <a:pt x="0" y="0"/>
                </a:moveTo>
                <a:lnTo>
                  <a:pt x="5339253" y="0"/>
                </a:lnTo>
                <a:lnTo>
                  <a:pt x="5339253" y="1233618"/>
                </a:lnTo>
                <a:lnTo>
                  <a:pt x="0" y="1233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6396" y="4737364"/>
            <a:ext cx="2665317" cy="2665317"/>
          </a:xfrm>
          <a:custGeom>
            <a:avLst/>
            <a:gdLst/>
            <a:ahLst/>
            <a:cxnLst/>
            <a:rect r="r" b="b" t="t" l="l"/>
            <a:pathLst>
              <a:path h="2665317" w="2665317">
                <a:moveTo>
                  <a:pt x="0" y="0"/>
                </a:moveTo>
                <a:lnTo>
                  <a:pt x="2665316" y="0"/>
                </a:lnTo>
                <a:lnTo>
                  <a:pt x="2665316" y="2665316"/>
                </a:lnTo>
                <a:lnTo>
                  <a:pt x="0" y="26653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0733" y="2241060"/>
            <a:ext cx="791318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b="true" sz="8000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PRINCIPAIS CARACTERÍSTICAS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39054" y="9191625"/>
            <a:ext cx="113470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1766" y="4739341"/>
            <a:ext cx="9657980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Baseada em Arch 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Velocidade, potência e eficiência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Acesso ao software mais recente e de última geração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Processo de instalação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Detecção automática de hardware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Instalação automática do software necessário  para o sistema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32934" y="1772129"/>
            <a:ext cx="3047795" cy="3047795"/>
          </a:xfrm>
          <a:custGeom>
            <a:avLst/>
            <a:gdLst/>
            <a:ahLst/>
            <a:cxnLst/>
            <a:rect r="r" b="b" t="t" l="l"/>
            <a:pathLst>
              <a:path h="3047795" w="3047795">
                <a:moveTo>
                  <a:pt x="0" y="0"/>
                </a:moveTo>
                <a:lnTo>
                  <a:pt x="3047795" y="0"/>
                </a:lnTo>
                <a:lnTo>
                  <a:pt x="3047795" y="3047795"/>
                </a:lnTo>
                <a:lnTo>
                  <a:pt x="0" y="3047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2647" y="4262002"/>
            <a:ext cx="2736882" cy="2736882"/>
          </a:xfrm>
          <a:custGeom>
            <a:avLst/>
            <a:gdLst/>
            <a:ahLst/>
            <a:cxnLst/>
            <a:rect r="r" b="b" t="t" l="l"/>
            <a:pathLst>
              <a:path h="2736882" w="2736882">
                <a:moveTo>
                  <a:pt x="0" y="0"/>
                </a:moveTo>
                <a:lnTo>
                  <a:pt x="2736882" y="0"/>
                </a:lnTo>
                <a:lnTo>
                  <a:pt x="2736882" y="2736882"/>
                </a:lnTo>
                <a:lnTo>
                  <a:pt x="0" y="2736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9175" y="4772299"/>
            <a:ext cx="4041492" cy="3513192"/>
          </a:xfrm>
          <a:custGeom>
            <a:avLst/>
            <a:gdLst/>
            <a:ahLst/>
            <a:cxnLst/>
            <a:rect r="r" b="b" t="t" l="l"/>
            <a:pathLst>
              <a:path h="3513192" w="4041492">
                <a:moveTo>
                  <a:pt x="0" y="0"/>
                </a:moveTo>
                <a:lnTo>
                  <a:pt x="4041492" y="0"/>
                </a:lnTo>
                <a:lnTo>
                  <a:pt x="4041492" y="3513192"/>
                </a:lnTo>
                <a:lnTo>
                  <a:pt x="0" y="3513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4623662"/>
            <a:ext cx="8115300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em Ambientes Corporativos e de TI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em Equipes de Desenvolvimento e Tecnologia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em Educação e Pesquisa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Usuários comuns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Entusiastas de customização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1175" y="2556972"/>
            <a:ext cx="7239625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EXEMPLOS DE USO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066" y="9191625"/>
            <a:ext cx="108978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314064" y="2147629"/>
            <a:ext cx="7239625" cy="3448744"/>
            <a:chOff x="0" y="0"/>
            <a:chExt cx="9652833" cy="45983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942034" y="0"/>
              <a:ext cx="2551460" cy="2494665"/>
            </a:xfrm>
            <a:custGeom>
              <a:avLst/>
              <a:gdLst/>
              <a:ahLst/>
              <a:cxnLst/>
              <a:rect r="r" b="b" t="t" l="l"/>
              <a:pathLst>
                <a:path h="2494665" w="2551460">
                  <a:moveTo>
                    <a:pt x="0" y="0"/>
                  </a:moveTo>
                  <a:lnTo>
                    <a:pt x="2551459" y="0"/>
                  </a:lnTo>
                  <a:lnTo>
                    <a:pt x="2551459" y="2494665"/>
                  </a:lnTo>
                  <a:lnTo>
                    <a:pt x="0" y="2494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403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3159627"/>
              <a:ext cx="9652833" cy="1438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60"/>
                </a:lnSpc>
              </a:pPr>
              <a:r>
                <a:rPr lang="en-US" b="true" sz="8000">
                  <a:solidFill>
                    <a:srgbClr val="444444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DESVANTAGENS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139054" y="9191625"/>
            <a:ext cx="113470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6018" y="5784850"/>
            <a:ext cx="718336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Mais "Pesado"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Risco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 Grandes Atualizações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ompatibilidade com o AUR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42198" y="2243919"/>
            <a:ext cx="7292327" cy="3352454"/>
            <a:chOff x="0" y="0"/>
            <a:chExt cx="9723103" cy="44699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729099" y="0"/>
              <a:ext cx="2502774" cy="2494665"/>
            </a:xfrm>
            <a:custGeom>
              <a:avLst/>
              <a:gdLst/>
              <a:ahLst/>
              <a:cxnLst/>
              <a:rect r="r" b="b" t="t" l="l"/>
              <a:pathLst>
                <a:path h="2494665" w="2502774">
                  <a:moveTo>
                    <a:pt x="0" y="0"/>
                  </a:moveTo>
                  <a:lnTo>
                    <a:pt x="2502775" y="0"/>
                  </a:lnTo>
                  <a:lnTo>
                    <a:pt x="2502775" y="2494665"/>
                  </a:lnTo>
                  <a:lnTo>
                    <a:pt x="0" y="2494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1551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3031240"/>
              <a:ext cx="9723103" cy="1438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760"/>
                </a:lnSpc>
              </a:pPr>
              <a:r>
                <a:rPr lang="en-US" b="true" sz="8000">
                  <a:solidFill>
                    <a:srgbClr val="444444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VANTAGENS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00081" y="5784850"/>
            <a:ext cx="729232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Rolling Release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Facilidade de instalação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AUR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Detecção de Hardware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4851" y="2211951"/>
            <a:ext cx="6261031" cy="6261031"/>
          </a:xfrm>
          <a:custGeom>
            <a:avLst/>
            <a:gdLst/>
            <a:ahLst/>
            <a:cxnLst/>
            <a:rect r="r" b="b" t="t" l="l"/>
            <a:pathLst>
              <a:path h="6261031" w="6261031">
                <a:moveTo>
                  <a:pt x="0" y="0"/>
                </a:moveTo>
                <a:lnTo>
                  <a:pt x="6261032" y="0"/>
                </a:lnTo>
                <a:lnTo>
                  <a:pt x="6261032" y="6261032"/>
                </a:lnTo>
                <a:lnTo>
                  <a:pt x="0" y="6261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1561292"/>
            <a:ext cx="7292327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CURIOSIDADES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70654" y="3622268"/>
            <a:ext cx="8288646" cy="348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009" indent="-305505" lvl="1">
              <a:lnSpc>
                <a:spcPts val="3962"/>
              </a:lnSpc>
              <a:buFont typeface="Arial"/>
              <a:buChar char="•"/>
            </a:pPr>
            <a:r>
              <a:rPr lang="en-US" b="true" sz="28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Nome inspirado em uma montanha</a:t>
            </a:r>
          </a:p>
          <a:p>
            <a:pPr algn="l">
              <a:lnSpc>
                <a:spcPts val="3962"/>
              </a:lnSpc>
            </a:pPr>
          </a:p>
          <a:p>
            <a:pPr algn="l" marL="611009" indent="-305505" lvl="1">
              <a:lnSpc>
                <a:spcPts val="3962"/>
              </a:lnSpc>
              <a:buFont typeface="Arial"/>
              <a:buChar char="•"/>
            </a:pPr>
            <a:r>
              <a:rPr lang="en-US" b="true" sz="28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Pode utilizar múltiplas versões do kernel</a:t>
            </a:r>
          </a:p>
          <a:p>
            <a:pPr algn="l">
              <a:lnSpc>
                <a:spcPts val="3962"/>
              </a:lnSpc>
            </a:pPr>
          </a:p>
          <a:p>
            <a:pPr algn="l" marL="611009" indent="-305505" lvl="1">
              <a:lnSpc>
                <a:spcPts val="3962"/>
              </a:lnSpc>
              <a:buFont typeface="Arial"/>
              <a:buChar char="•"/>
            </a:pPr>
            <a:r>
              <a:rPr lang="en-US" b="true" sz="28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Expiração de certificados SSL</a:t>
            </a:r>
          </a:p>
          <a:p>
            <a:pPr algn="l">
              <a:lnSpc>
                <a:spcPts val="3962"/>
              </a:lnSpc>
            </a:pPr>
          </a:p>
          <a:p>
            <a:pPr algn="l" marL="611009" indent="-305505" lvl="1">
              <a:lnSpc>
                <a:spcPts val="3962"/>
              </a:lnSpc>
              <a:buFont typeface="Arial"/>
              <a:buChar char="•"/>
            </a:pPr>
            <a:r>
              <a:rPr lang="en-US" b="true" sz="28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Facilidade para novos usuários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066" y="9191625"/>
            <a:ext cx="108978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CCO 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2325" y="3851522"/>
            <a:ext cx="2730731" cy="4114800"/>
          </a:xfrm>
          <a:custGeom>
            <a:avLst/>
            <a:gdLst/>
            <a:ahLst/>
            <a:cxnLst/>
            <a:rect r="r" b="b" t="t" l="l"/>
            <a:pathLst>
              <a:path h="4114800" w="2730731">
                <a:moveTo>
                  <a:pt x="0" y="0"/>
                </a:moveTo>
                <a:lnTo>
                  <a:pt x="2730731" y="0"/>
                </a:lnTo>
                <a:lnTo>
                  <a:pt x="27307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4423" y="9034557"/>
            <a:ext cx="3183152" cy="809436"/>
          </a:xfrm>
          <a:custGeom>
            <a:avLst/>
            <a:gdLst/>
            <a:ahLst/>
            <a:cxnLst/>
            <a:rect r="r" b="b" t="t" l="l"/>
            <a:pathLst>
              <a:path h="809436" w="3183152">
                <a:moveTo>
                  <a:pt x="0" y="0"/>
                </a:moveTo>
                <a:lnTo>
                  <a:pt x="3183152" y="0"/>
                </a:lnTo>
                <a:lnTo>
                  <a:pt x="3183152" y="809436"/>
                </a:lnTo>
                <a:lnTo>
                  <a:pt x="0" y="809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6078" r="-15892" b="-8028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3359" y="1657103"/>
            <a:ext cx="3488663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b="true" sz="8000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LICENÇA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45232" y="1940631"/>
            <a:ext cx="4388483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444444"/>
                </a:solidFill>
                <a:latin typeface="Poppins Bold"/>
                <a:ea typeface="Poppins Bold"/>
                <a:cs typeface="Poppins Bold"/>
                <a:sym typeface="Poppins Bold"/>
              </a:rPr>
              <a:t>ESD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45232" y="3033734"/>
            <a:ext cx="9102380" cy="681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763" indent="-243381" lvl="1">
              <a:lnSpc>
                <a:spcPts val="3156"/>
              </a:lnSpc>
              <a:spcBef>
                <a:spcPct val="0"/>
              </a:spcBef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Licença</a:t>
            </a: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ESD (Electronic Software Delivery) é uma licença de software adquirida online,. Após a compra, o software é entregue digitalmente, permitindo que o usuário baixe e instale o produto diretamente. Esse tipo de licença é amplamente utilizado para aplicativos populares, como o Microsoft Office e outros softwares de produtividade.</a:t>
            </a:r>
          </a:p>
          <a:p>
            <a:pPr algn="l" marL="486763" indent="-243381" lvl="1">
              <a:lnSpc>
                <a:spcPts val="3156"/>
              </a:lnSpc>
              <a:spcBef>
                <a:spcPct val="0"/>
              </a:spcBef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Ativação Individual: Cada licença ESD possui uma chave de ativação única usada para ativar o Windows em um dispositivo específico.</a:t>
            </a:r>
          </a:p>
          <a:p>
            <a:pPr algn="l" marL="486763" indent="-243381" lvl="1">
              <a:lnSpc>
                <a:spcPts val="3156"/>
              </a:lnSpc>
              <a:spcBef>
                <a:spcPct val="0"/>
              </a:spcBef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Pessoal e Empresarial: Pode ser usada tanto por consumidores finais quanto por empresas.</a:t>
            </a:r>
          </a:p>
          <a:p>
            <a:pPr algn="l">
              <a:lnSpc>
                <a:spcPts val="3156"/>
              </a:lnSpc>
              <a:spcBef>
                <a:spcPct val="0"/>
              </a:spcBef>
            </a:pPr>
          </a:p>
          <a:p>
            <a:pPr algn="ctr">
              <a:lnSpc>
                <a:spcPts val="3156"/>
              </a:lnSpc>
              <a:spcBef>
                <a:spcPct val="0"/>
              </a:spcBef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Vantagens da </a:t>
            </a: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Licença ESD:</a:t>
            </a:r>
          </a:p>
          <a:p>
            <a:pPr algn="l" marL="486763" indent="-243381" lvl="1">
              <a:lnSpc>
                <a:spcPts val="3156"/>
              </a:lnSpc>
              <a:spcBef>
                <a:spcPct val="0"/>
              </a:spcBef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Entrega Rápida: </a:t>
            </a:r>
          </a:p>
          <a:p>
            <a:pPr algn="l" marL="486763" indent="-243381" lvl="1">
              <a:lnSpc>
                <a:spcPts val="3156"/>
              </a:lnSpc>
              <a:spcBef>
                <a:spcPct val="0"/>
              </a:spcBef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Baixo Custo Inicial: </a:t>
            </a:r>
          </a:p>
          <a:p>
            <a:pPr algn="l" marL="486763" indent="-243381" lvl="1">
              <a:lnSpc>
                <a:spcPts val="3156"/>
              </a:lnSpc>
              <a:spcBef>
                <a:spcPct val="0"/>
              </a:spcBef>
              <a:buFont typeface="Arial"/>
              <a:buChar char="•"/>
            </a:pPr>
            <a:r>
              <a:rPr lang="en-US" sz="2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Facilidade de Transferência: </a:t>
            </a:r>
          </a:p>
          <a:p>
            <a:pPr algn="l">
              <a:lnSpc>
                <a:spcPts val="31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28780" y="4602163"/>
            <a:ext cx="13430439" cy="130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99"/>
              </a:lnSpc>
              <a:spcBef>
                <a:spcPct val="0"/>
              </a:spcBef>
            </a:pPr>
            <a:r>
              <a:rPr lang="en-US" b="true" sz="9999">
                <a:solidFill>
                  <a:srgbClr val="444444"/>
                </a:solidFill>
                <a:latin typeface="Oswald Bold"/>
                <a:ea typeface="Oswald Bold"/>
                <a:cs typeface="Oswald Bold"/>
                <a:sym typeface="Oswald Bold"/>
              </a:rPr>
              <a:t>OBRIGADO PELA ATENÇÃO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2197370" y="-2604101"/>
            <a:ext cx="9225459" cy="6105576"/>
          </a:xfrm>
          <a:custGeom>
            <a:avLst/>
            <a:gdLst/>
            <a:ahLst/>
            <a:cxnLst/>
            <a:rect r="r" b="b" t="t" l="l"/>
            <a:pathLst>
              <a:path h="6105576" w="9225459">
                <a:moveTo>
                  <a:pt x="9225459" y="0"/>
                </a:moveTo>
                <a:lnTo>
                  <a:pt x="0" y="0"/>
                </a:lnTo>
                <a:lnTo>
                  <a:pt x="0" y="6105576"/>
                </a:lnTo>
                <a:lnTo>
                  <a:pt x="9225459" y="6105576"/>
                </a:lnTo>
                <a:lnTo>
                  <a:pt x="92254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699521" y="704652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65815" y="6105010"/>
            <a:ext cx="1956369" cy="452013"/>
          </a:xfrm>
          <a:custGeom>
            <a:avLst/>
            <a:gdLst/>
            <a:ahLst/>
            <a:cxnLst/>
            <a:rect r="r" b="b" t="t" l="l"/>
            <a:pathLst>
              <a:path h="452013" w="1956369">
                <a:moveTo>
                  <a:pt x="0" y="0"/>
                </a:moveTo>
                <a:lnTo>
                  <a:pt x="1956370" y="0"/>
                </a:lnTo>
                <a:lnTo>
                  <a:pt x="1956370" y="452013"/>
                </a:lnTo>
                <a:lnTo>
                  <a:pt x="0" y="452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DAHBCTJZyy0</dc:identifier>
  <dcterms:modified xsi:type="dcterms:W3CDTF">2011-08-01T06:04:30Z</dcterms:modified>
  <cp:revision>1</cp:revision>
  <dc:title>CCO A</dc:title>
</cp:coreProperties>
</file>